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시세 조회를 넘어 전략 검증과 모의주문을 연결하는 플랫폼이라고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2026-09-08 실제 실행 화면입니다. 금액은 모의계좌 값입니다. 주문 입력은 확인 후 VTS로 전송됩니다.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 교차, 종가 위치, RSI, 거래량을 함께 봅니다. 규칙별 충족 여부와 실제 지표 값은 전략 API에서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T일 신호는 T일까지 데이터만 사용하고 다음 봉 시가에 체결합니다. 수수료와 슬리피지를 반영한 실현 수익률은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종합현황, 자동매매 후보 생성, 퀀트분석, 성과, 시스템관리입니다. 스케줄은 저장만 하고 현재 작업 실행은 수동입니다.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주문 취소, 체결 조회, 정합성 대조는 API 기능입니다. 오늘은 신규 주문을 보내지 않고 관련 자동 테스트를 검증했습니다.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120개 자동 테스트 통과. 장외 검증이므로 실시간 틱 수신과 신규 모의주문 체결은 확인하지 않았습니다. 자동 스케줄 실행은 향후 범위입니다. WebSocket 종료 시 하위 작업 정리도 수정했습니다.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2C7D9"/>
                </a:solidFill>
                <a:latin typeface="맑은 고딕"/>
              </a:defRPr>
            </a:pPr>
            <a:r>
              <a:t>KIS TRADING LAB  /  DEMO 2026.09.09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>
                <a:solidFill>
                  <a:srgbClr val="EDF3FB"/>
                </a:solidFill>
                <a:latin typeface="맑은 고딕"/>
              </a:defRPr>
            </a:pPr>
            <a:r>
              <a:t>데이터에서 모의주문까지, 하나의 검증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92A5BE"/>
                </a:solidFill>
                <a:latin typeface="맑은 고딕"/>
              </a:defRPr>
            </a:pPr>
            <a:r>
              <a:t>조회 → 판단 → 검증 → 모의 실행 → 운영 기록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8290A5"/>
                </a:solidFill>
                <a:latin typeface="맑은 고딕"/>
              </a:defRPr>
            </a:pPr>
            <a:r>
              <a:t>KIS VTS · 모의투자 실험 플랫폼                                       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900">
                <a:solidFill>
                  <a:srgbClr val="EDF3FB"/>
                </a:solidFill>
                <a:latin typeface="맑은 고딕"/>
              </a:defRPr>
            </a:pPr>
            <a:r>
              <a:t>01  계좌·시세·차트를 한눈에</a:t>
            </a:r>
          </a:p>
          <a:p>
            <a:pPr>
              <a:spcAft>
                <a:spcPts val="1600"/>
              </a:spcAft>
              <a:defRPr sz="2900">
                <a:solidFill>
                  <a:srgbClr val="EDF3FB"/>
                </a:solidFill>
                <a:latin typeface="맑은 고딕"/>
              </a:defRPr>
            </a:pPr>
            <a:r>
              <a:t>02  지표로 판단하고 백테스트로 확인</a:t>
            </a:r>
          </a:p>
          <a:p>
            <a:pPr>
              <a:spcAft>
                <a:spcPts val="1600"/>
              </a:spcAft>
              <a:defRPr sz="2900">
                <a:solidFill>
                  <a:srgbClr val="EDF3FB"/>
                </a:solidFill>
                <a:latin typeface="맑은 고딕"/>
              </a:defRPr>
            </a:pPr>
            <a:r>
              <a:t>03  KIS 모의주문과 운영 이력까지 연결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2C7D9"/>
                </a:solidFill>
                <a:latin typeface="맑은 고딕"/>
              </a:defRPr>
            </a:pPr>
            <a:r>
              <a:t>KIS TRADING LAB  /  DEMO 2026.09.09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>
                <a:solidFill>
                  <a:srgbClr val="EDF3FB"/>
                </a:solidFill>
                <a:latin typeface="맑은 고딕"/>
              </a:defRPr>
            </a:pPr>
            <a:r>
              <a:t>트레이딩의 핵심 정보를 한 화면에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92A5BE"/>
                </a:solidFill>
                <a:latin typeface="맑은 고딕"/>
              </a:defRPr>
            </a:pPr>
            <a:r>
              <a:t>실제 실행 화면 · 모의계좌 잔고, 관심종목, 일봉 차트, 주문 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8290A5"/>
                </a:solidFill>
                <a:latin typeface="맑은 고딕"/>
              </a:defRPr>
            </a:pPr>
            <a:r>
              <a:t>KIS VTS · 모의투자 실험 플랫폼                                         02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2103120"/>
            <a:ext cx="6803136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2C7D9"/>
                </a:solidFill>
                <a:latin typeface="맑은 고딕"/>
              </a:defRPr>
            </a:pPr>
            <a:r>
              <a:t>KIS TRADING LAB  /  DEMO 2026.09.09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>
                <a:solidFill>
                  <a:srgbClr val="EDF3FB"/>
                </a:solidFill>
                <a:latin typeface="맑은 고딕"/>
              </a:defRPr>
            </a:pPr>
            <a:r>
              <a:t>매수·매도 판단에 근거를 붙이다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92A5BE"/>
                </a:solidFill>
                <a:latin typeface="맑은 고딕"/>
              </a:defRPr>
            </a:pPr>
            <a:r>
              <a:t>LAB Strategy v1 · 설명 가능한 규칙 기반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8290A5"/>
                </a:solidFill>
                <a:latin typeface="맑은 고딕"/>
              </a:defRPr>
            </a:pPr>
            <a:r>
              <a:t>KIS VTS · 모의투자 실험 플랫폼                                       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>
                <a:solidFill>
                  <a:srgbClr val="EDF3FB"/>
                </a:solidFill>
                <a:latin typeface="맑은 고딕"/>
              </a:defRPr>
            </a:pPr>
            <a:r>
              <a:t>추세   SMA5 / SMA20 교차 + 종가 위치</a:t>
            </a:r>
          </a:p>
          <a:p>
            <a:pPr>
              <a:spcAft>
                <a:spcPts val="1600"/>
              </a:spcAft>
              <a:defRPr sz="2500">
                <a:solidFill>
                  <a:srgbClr val="EDF3FB"/>
                </a:solidFill>
                <a:latin typeface="맑은 고딕"/>
              </a:defRPr>
            </a:pPr>
            <a:r>
              <a:t>강도   RSI14 · 매수 조건 50 이상 70 미만</a:t>
            </a:r>
          </a:p>
          <a:p>
            <a:pPr>
              <a:spcAft>
                <a:spcPts val="1600"/>
              </a:spcAft>
              <a:defRPr sz="2500">
                <a:solidFill>
                  <a:srgbClr val="EDF3FB"/>
                </a:solidFill>
                <a:latin typeface="맑은 고딕"/>
              </a:defRPr>
            </a:pPr>
            <a:r>
              <a:t>확인   거래량 비율 · 매수 조건 1.0 이상</a:t>
            </a:r>
          </a:p>
          <a:p>
            <a:pPr>
              <a:spcAft>
                <a:spcPts val="1600"/>
              </a:spcAft>
              <a:defRPr sz="2500">
                <a:solidFill>
                  <a:srgbClr val="EDF3FB"/>
                </a:solidFill>
                <a:latin typeface="맑은 고딕"/>
              </a:defRPr>
            </a:pPr>
            <a:r>
              <a:t>결과   BUY / SELL / HOLD와 규칙별 판단 근거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2C7D9"/>
                </a:solidFill>
                <a:latin typeface="맑은 고딕"/>
              </a:defRPr>
            </a:pPr>
            <a:r>
              <a:t>KIS TRADING LAB  /  DEMO 2026.09.09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>
                <a:solidFill>
                  <a:srgbClr val="EDF3FB"/>
                </a:solidFill>
                <a:latin typeface="맑은 고딕"/>
              </a:defRPr>
            </a:pPr>
            <a:r>
              <a:t>수익률과 위험을 함께 검증하다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92A5BE"/>
                </a:solidFill>
                <a:latin typeface="맑은 고딕"/>
              </a:defRPr>
            </a:pPr>
            <a:r>
              <a:t>백테스트 결과를 전략 비교의 공통 언어로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8290A5"/>
                </a:solidFill>
                <a:latin typeface="맑은 고딕"/>
              </a:defRPr>
            </a:pPr>
            <a:r>
              <a:t>KIS VTS · 모의투자 실험 플랫폼                                       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700">
                <a:solidFill>
                  <a:srgbClr val="EDF3FB"/>
                </a:solidFill>
                <a:latin typeface="맑은 고딕"/>
              </a:defRPr>
            </a:pPr>
            <a:r>
              <a:t>미래 데이터 참조 방지 → 다음 봉 시가 체결</a:t>
            </a:r>
          </a:p>
          <a:p>
            <a:pPr>
              <a:spcAft>
                <a:spcPts val="1600"/>
              </a:spcAft>
              <a:defRPr sz="2700">
                <a:solidFill>
                  <a:srgbClr val="EDF3FB"/>
                </a:solidFill>
                <a:latin typeface="맑은 고딕"/>
              </a:defRPr>
            </a:pPr>
            <a:r>
              <a:t>성과 비교 → 총수익률 · 최대낙폭(MDD) · 거래수</a:t>
            </a:r>
          </a:p>
          <a:p>
            <a:pPr>
              <a:spcAft>
                <a:spcPts val="1600"/>
              </a:spcAft>
              <a:defRPr sz="2700">
                <a:solidFill>
                  <a:srgbClr val="EDF3FB"/>
                </a:solidFill>
                <a:latin typeface="맑은 고딕"/>
              </a:defRPr>
            </a:pPr>
            <a:r>
              <a:t>반복 가능한 검증 → 종목별 결과 저장과 운영센터 조회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2C7D9"/>
                </a:solidFill>
                <a:latin typeface="맑은 고딕"/>
              </a:defRPr>
            </a:pPr>
            <a:r>
              <a:t>KIS TRADING LAB  /  DEMO 2026.09.09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>
                <a:solidFill>
                  <a:srgbClr val="EDF3FB"/>
                </a:solidFill>
                <a:latin typeface="맑은 고딕"/>
              </a:defRPr>
            </a:pPr>
            <a:r>
              <a:t>수집부터 분석까지, 운영 흐름을 연결하다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92A5BE"/>
                </a:solidFill>
                <a:latin typeface="맑은 고딕"/>
              </a:defRPr>
            </a:pPr>
            <a:r>
              <a:t>통합 파이프라인과 5개 운영 메뉴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8290A5"/>
                </a:solidFill>
                <a:latin typeface="맑은 고딕"/>
              </a:defRPr>
            </a:pPr>
            <a:r>
              <a:t>KIS VTS · 모의투자 실험 플랫폼                                         05</a:t>
            </a:r>
          </a:p>
        </p:txBody>
      </p:sp>
      <p:pic>
        <p:nvPicPr>
          <p:cNvPr id="6" name="Picture 5" descr="control-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649224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2468880"/>
            <a:ext cx="4297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EDF3FB"/>
                </a:solidFill>
                <a:latin typeface="맑은 고딕"/>
              </a:defRPr>
            </a:pPr>
            <a:r>
              <a:t>수집 → 분석 → 백테스트</a:t>
            </a:r>
          </a:p>
          <a:p>
            <a:pPr>
              <a:spcAft>
                <a:spcPts val="1600"/>
              </a:spcAft>
              <a:defRPr sz="2200">
                <a:solidFill>
                  <a:srgbClr val="EDF3FB"/>
                </a:solidFill>
                <a:latin typeface="맑은 고딕"/>
              </a:defRPr>
            </a:pPr>
            <a:r>
              <a:t>대상종목·위험 한도 설정</a:t>
            </a:r>
          </a:p>
          <a:p>
            <a:pPr>
              <a:spcAft>
                <a:spcPts val="1600"/>
              </a:spcAft>
              <a:defRPr sz="2200">
                <a:solidFill>
                  <a:srgbClr val="EDF3FB"/>
                </a:solidFill>
                <a:latin typeface="맑은 고딕"/>
              </a:defRPr>
            </a:pPr>
            <a:r>
              <a:t>작업 이력·오류 로그 조회</a:t>
            </a:r>
          </a:p>
          <a:p>
            <a:pPr>
              <a:spcAft>
                <a:spcPts val="1600"/>
              </a:spcAft>
              <a:defRPr sz="2200">
                <a:solidFill>
                  <a:srgbClr val="EDF3FB"/>
                </a:solidFill>
                <a:latin typeface="맑은 고딕"/>
              </a:defRPr>
            </a:pPr>
            <a:r>
              <a:t>후보 생성은 DRY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2C7D9"/>
                </a:solidFill>
                <a:latin typeface="맑은 고딕"/>
              </a:defRPr>
            </a:pPr>
            <a:r>
              <a:t>KIS TRADING LAB  /  DEMO 2026.09.09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>
                <a:solidFill>
                  <a:srgbClr val="EDF3FB"/>
                </a:solidFill>
                <a:latin typeface="맑은 고딕"/>
              </a:defRPr>
            </a:pPr>
            <a:r>
              <a:t>주문 전송 이후의 상태까지 추적하다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92A5BE"/>
                </a:solidFill>
                <a:latin typeface="맑은 고딕"/>
              </a:defRPr>
            </a:pPr>
            <a:r>
              <a:t>KIS VTS 전용 · 주문 생명주기와 정합성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8290A5"/>
                </a:solidFill>
                <a:latin typeface="맑은 고딕"/>
              </a:defRPr>
            </a:pPr>
            <a:r>
              <a:t>KIS VTS · 모의투자 실험 플랫폼                                       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>
                <a:solidFill>
                  <a:srgbClr val="EDF3FB"/>
                </a:solidFill>
                <a:latin typeface="맑은 고딕"/>
              </a:defRPr>
            </a:pPr>
            <a:r>
              <a:t>주문 → 조회 → 체결/취소 → 정합성 대조</a:t>
            </a:r>
          </a:p>
          <a:p>
            <a:pPr>
              <a:spcAft>
                <a:spcPts val="1600"/>
              </a:spcAft>
              <a:defRPr sz="2800">
                <a:solidFill>
                  <a:srgbClr val="EDF3FB"/>
                </a:solidFill>
                <a:latin typeface="맑은 고딕"/>
              </a:defRPr>
            </a:pPr>
            <a:r>
              <a:t>중복 요청 방지 · 주문 금액/수량 제한</a:t>
            </a:r>
          </a:p>
          <a:p>
            <a:pPr>
              <a:spcAft>
                <a:spcPts val="1600"/>
              </a:spcAft>
              <a:defRPr sz="2800">
                <a:solidFill>
                  <a:srgbClr val="EDF3FB"/>
                </a:solidFill>
                <a:latin typeface="맑은 고딕"/>
              </a:defRPr>
            </a:pPr>
            <a:r>
              <a:t>실전주문 차단 · 모의투자 환경 전용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2C7D9"/>
                </a:solidFill>
                <a:latin typeface="맑은 고딕"/>
              </a:defRPr>
            </a:pPr>
            <a:r>
              <a:t>KIS TRADING LAB  /  DEMO 2026.09.09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>
                <a:solidFill>
                  <a:srgbClr val="EDF3FB"/>
                </a:solidFill>
                <a:latin typeface="맑은 고딕"/>
              </a:defRPr>
            </a:pPr>
            <a:r>
              <a:t>시연 준비 완료 — 검증 결과와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92A5BE"/>
                </a:solidFill>
                <a:latin typeface="맑은 고딕"/>
              </a:defRPr>
            </a:pPr>
            <a:r>
              <a:t>2026.09.08 점검 · 코드, 화면, 발표 자료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8290A5"/>
                </a:solidFill>
                <a:latin typeface="맑은 고딕"/>
              </a:defRPr>
            </a:pPr>
            <a:r>
              <a:t>KIS VTS · 모의투자 실험 플랫폼                                       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EDF3FB"/>
                </a:solidFill>
                <a:latin typeface="맑은 고딕"/>
              </a:defRPr>
            </a:pPr>
            <a:r>
              <a:t>120개 자동 테스트 통과 · 브라우저 JS 예외 0건</a:t>
            </a:r>
          </a:p>
          <a:p>
            <a:pPr>
              <a:spcAft>
                <a:spcPts val="1600"/>
              </a:spcAft>
              <a:defRPr sz="2400">
                <a:solidFill>
                  <a:srgbClr val="EDF3FB"/>
                </a:solidFill>
                <a:latin typeface="맑은 고딕"/>
              </a:defRPr>
            </a:pPr>
            <a:r>
              <a:t>KIS 잔고·시세·차트 조회 / 5개 메뉴 / 모바일 확인</a:t>
            </a:r>
          </a:p>
          <a:p>
            <a:pPr>
              <a:spcAft>
                <a:spcPts val="1600"/>
              </a:spcAft>
              <a:defRPr sz="2400">
                <a:solidFill>
                  <a:srgbClr val="EDF3FB"/>
                </a:solidFill>
                <a:latin typeface="맑은 고딕"/>
              </a:defRPr>
            </a:pPr>
            <a:r>
              <a:t>수정: 설정 저장 · 오류 표시 · WebSocket 종료 처리</a:t>
            </a:r>
          </a:p>
          <a:p>
            <a:pPr>
              <a:spcAft>
                <a:spcPts val="1600"/>
              </a:spcAft>
              <a:defRPr sz="2400">
                <a:solidFill>
                  <a:srgbClr val="EDF3FB"/>
                </a:solidFill>
                <a:latin typeface="맑은 고딕"/>
              </a:defRPr>
            </a:pPr>
            <a:r>
              <a:t>다음 단계: 스케줄러 실행 연결 · 장중 실시간/체결 시연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